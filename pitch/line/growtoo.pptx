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Growtoo. Cannabis growers data on chain. Growers list the plant. Adopters invest in it. A real RWA case in agriculture.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 grower’s notes live in four places — chat, photos, weather, a scrap about a yellow leaf. By week nine, week two is gone. There is no one trail on that plant.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growtoo puts the day on the plant. Water is one tap. It logs. The reminder clears. Free. No wallet.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Shoot a leaf, ask the coach. It drafts on that plant. Nothing writes until you say 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can open today, and what you cannot. Live: journal, log, camera, coach. Devnet: a stage seal on a test network — no monetary value. Planned: market and fund. Not live money.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day can take a seal on Solana Devnet, on that line of the journal. Anyone can open it. Still a test network. Still no monetary value.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is planned, not built for money. Growers list the plant. Adopters follow it — after a care trail. If you log, write, contribute, you would get funded. A payout would need a wallet. Not a journal login.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testers are on the journal now. Next is a cohort that still logs on day 30. Thirty to fifty growers — a target, not a count. Cannabis and CBD growers first.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growtoo team. Bela shipped the journal, the coach, and the Devnet stack — four Superteam milestones. Ivan runs grower ops so the desk gets used, not only built. Ozren grows plants and engineers the trail that stores them. Goran grows plants and designs how the desk looks. admin@dnevnik.live.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History first. Token second. The journal is written before the day is sealed. Open the journal on growto.live. That’s the product you can touch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Cannabis journaling</a:t>
            </a:r>
          </a:p>
        </p:txBody>
      </p:sp>
      <p:sp>
        <p:nvSpPr>
          <p:cNvPr id="3" name="TextBox 2"/>
          <p:cNvSpPr txBox="1"/>
          <p:nvPr/>
        </p:nvSpPr>
        <p:spPr>
          <a:xfrm>
            <a:off x="658368" y="1120000"/>
            <a:ext cx="10881360" cy="1500000"/>
          </a:xfrm>
          <a:prstGeom prst="rect">
            <a:avLst/>
          </a:prstGeom>
          <a:noFill/>
        </p:spPr>
        <p:txBody>
          <a:bodyPr wrap="square">
            <a:spAutoFit/>
          </a:bodyPr>
          <a:lstStyle/>
          <a:p>
            <a:r>
              <a:rPr sz="4000" b="1">
                <a:solidFill>
                  <a:srgbClr val="FFFFFF"/>
                </a:solidFill>
                <a:latin typeface="Arial"/>
              </a:rPr>
              <a:t>Cannabis growers data on chain.</a:t>
            </a:r>
          </a:p>
        </p:txBody>
      </p:sp>
      <p:sp>
        <p:nvSpPr>
          <p:cNvPr id="4" name="TextBox 3"/>
          <p:cNvSpPr txBox="1"/>
          <p:nvPr/>
        </p:nvSpPr>
        <p:spPr>
          <a:xfrm>
            <a:off x="658368" y="2720000"/>
            <a:ext cx="10881360" cy="3200000"/>
          </a:xfrm>
          <a:prstGeom prst="rect">
            <a:avLst/>
          </a:prstGeom>
          <a:noFill/>
        </p:spPr>
        <p:txBody>
          <a:bodyPr wrap="square">
            <a:spAutoFit/>
          </a:bodyPr>
          <a:lstStyle/>
          <a:p>
            <a:pPr>
              <a:spcAft>
                <a:spcPts val="1000"/>
              </a:spcAft>
            </a:pPr>
            <a:r>
              <a:rPr sz="2000" b="0">
                <a:solidFill>
                  <a:srgbClr val="FFFFFF"/>
                </a:solidFill>
                <a:latin typeface="Arial"/>
              </a:rPr>
              <a:t>Growers list the plant. Adopters invest in it.</a:t>
            </a:r>
          </a:p>
          <a:p>
            <a:pPr>
              <a:spcAft>
                <a:spcPts val="1000"/>
              </a:spcAft>
            </a:pPr>
            <a:r>
              <a:rPr sz="2000" b="0">
                <a:solidFill>
                  <a:srgbClr val="FFFFFF"/>
                </a:solidFill>
                <a:latin typeface="Arial"/>
              </a:rPr>
              <a:t>A real RWA case in agriculture.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Live</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Write it on the plant.</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Water, feed, weather, the yellow leaf. One trail on that plant.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Live</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Water is one tap.</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Logged on that plant. The reminder clears. No wallet.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Live</a:t>
            </a:r>
          </a:p>
        </p:txBody>
      </p:sp>
      <p:sp>
        <p:nvSpPr>
          <p:cNvPr id="3" name="TextBox 2"/>
          <p:cNvSpPr txBox="1"/>
          <p:nvPr/>
        </p:nvSpPr>
        <p:spPr>
          <a:xfrm>
            <a:off x="658368" y="1120000"/>
            <a:ext cx="10881360" cy="1500000"/>
          </a:xfrm>
          <a:prstGeom prst="rect">
            <a:avLst/>
          </a:prstGeom>
          <a:noFill/>
        </p:spPr>
        <p:txBody>
          <a:bodyPr wrap="square">
            <a:spAutoFit/>
          </a:bodyPr>
          <a:lstStyle/>
          <a:p>
            <a:r>
              <a:rPr sz="4000" b="1">
                <a:solidFill>
                  <a:srgbClr val="FFFFFF"/>
                </a:solidFill>
                <a:latin typeface="Arial"/>
              </a:rPr>
              <a:t>Coach waits until you confirm.</a:t>
            </a:r>
          </a:p>
        </p:txBody>
      </p:sp>
      <p:sp>
        <p:nvSpPr>
          <p:cNvPr id="4" name="TextBox 3"/>
          <p:cNvSpPr txBox="1"/>
          <p:nvPr/>
        </p:nvSpPr>
        <p:spPr>
          <a:xfrm>
            <a:off x="658368" y="2720000"/>
            <a:ext cx="10881360" cy="3200000"/>
          </a:xfrm>
          <a:prstGeom prst="rect">
            <a:avLst/>
          </a:prstGeom>
          <a:noFill/>
        </p:spPr>
        <p:txBody>
          <a:bodyPr wrap="square">
            <a:spAutoFit/>
          </a:bodyPr>
          <a:lstStyle/>
          <a:p>
            <a:pPr>
              <a:spcAft>
                <a:spcPts val="1000"/>
              </a:spcAft>
            </a:pPr>
            <a:r>
              <a:rPr sz="2000" b="0">
                <a:solidFill>
                  <a:srgbClr val="FFFFFF"/>
                </a:solidFill>
                <a:latin typeface="Arial"/>
              </a:rPr>
              <a:t>It drafts on that plant. Nothing writes until you say 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Status</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Live. Devnet. Planned.</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What a reviewer can open today, and what they cannot.</a:t>
            </a:r>
          </a:p>
          <a:p>
            <a:pPr>
              <a:spcAft>
                <a:spcPts val="1000"/>
              </a:spcAft>
            </a:pPr>
            <a:r>
              <a:rPr sz="2000" b="0">
                <a:solidFill>
                  <a:srgbClr val="FFFFFF"/>
                </a:solidFill>
                <a:latin typeface="Arial"/>
              </a:rPr>
              <a:t>Live — Journal, log, camera, coach. Free. No wallet.</a:t>
            </a:r>
          </a:p>
          <a:p>
            <a:pPr>
              <a:spcAft>
                <a:spcPts val="1000"/>
              </a:spcAft>
            </a:pPr>
            <a:r>
              <a:rPr sz="2000" b="0">
                <a:solidFill>
                  <a:srgbClr val="FFFFFF"/>
                </a:solidFill>
                <a:latin typeface="Arial"/>
              </a:rPr>
              <a:t>Devnet — Stage seal. Test network. No monetary value.</a:t>
            </a:r>
          </a:p>
          <a:p>
            <a:pPr>
              <a:spcAft>
                <a:spcPts val="1000"/>
              </a:spcAft>
            </a:pPr>
            <a:r>
              <a:rPr sz="2000" b="0">
                <a:solidFill>
                  <a:srgbClr val="FFFFFF"/>
                </a:solidFill>
                <a:latin typeface="Arial"/>
              </a:rPr>
              <a:t>Planned — Market and fund. Not built for live money.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Devnet</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The day gets a seal.</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Sealed on Solana Devnet, on that line of the journal. Anyone can open it. Test network. No monetary value.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Planned</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Market. Fund.</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Not live. Not on Devnet as a product you can use with money.</a:t>
            </a:r>
          </a:p>
          <a:p>
            <a:pPr>
              <a:spcAft>
                <a:spcPts val="1000"/>
              </a:spcAft>
            </a:pPr>
            <a:r>
              <a:rPr sz="2000" b="0">
                <a:solidFill>
                  <a:srgbClr val="FFFFFF"/>
                </a:solidFill>
                <a:latin typeface="Arial"/>
              </a:rPr>
              <a:t>Market — List the plant. Adopters follow it. After a care trail.</a:t>
            </a:r>
          </a:p>
          <a:p>
            <a:pPr>
              <a:spcAft>
                <a:spcPts val="1000"/>
              </a:spcAft>
            </a:pPr>
            <a:r>
              <a:rPr sz="2000" b="0">
                <a:solidFill>
                  <a:srgbClr val="FFFFFF"/>
                </a:solidFill>
                <a:latin typeface="Arial"/>
              </a:rPr>
              <a:t>Fund — If you log, write, contribute, you would get funded.</a:t>
            </a:r>
          </a:p>
          <a:p>
            <a:pPr>
              <a:spcAft>
                <a:spcPts val="1000"/>
              </a:spcAft>
            </a:pPr>
            <a:r>
              <a:rPr sz="2000" b="0">
                <a:solidFill>
                  <a:srgbClr val="FFFFFF"/>
                </a:solidFill>
                <a:latin typeface="Arial"/>
              </a:rPr>
              <a:t>Wallet — A payout would need a wallet. Not a journal login.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Next</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Three testers.</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On the journal now. The next job is a cohort that stays.</a:t>
            </a:r>
          </a:p>
          <a:p>
            <a:pPr>
              <a:spcAft>
                <a:spcPts val="1000"/>
              </a:spcAft>
            </a:pPr>
            <a:r>
              <a:rPr sz="2000" b="0">
                <a:solidFill>
                  <a:srgbClr val="FFFFFF"/>
                </a:solidFill>
                <a:latin typeface="Arial"/>
              </a:rPr>
              <a:t>Now — 3 testers on the journal.</a:t>
            </a:r>
          </a:p>
          <a:p>
            <a:pPr>
              <a:spcAft>
                <a:spcPts val="1000"/>
              </a:spcAft>
            </a:pPr>
            <a:r>
              <a:rPr sz="2000" b="0">
                <a:solidFill>
                  <a:srgbClr val="FFFFFF"/>
                </a:solidFill>
                <a:latin typeface="Arial"/>
              </a:rPr>
              <a:t>Next — 30–50 growers. A target, not a count.</a:t>
            </a:r>
          </a:p>
          <a:p>
            <a:pPr>
              <a:spcAft>
                <a:spcPts val="1000"/>
              </a:spcAft>
            </a:pPr>
            <a:r>
              <a:rPr sz="2000" b="0">
                <a:solidFill>
                  <a:srgbClr val="FFFFFF"/>
                </a:solidFill>
                <a:latin typeface="Arial"/>
              </a:rPr>
              <a:t>Prove — They still log on day 30.</a:t>
            </a:r>
          </a:p>
          <a:p>
            <a:pPr>
              <a:spcAft>
                <a:spcPts val="1000"/>
              </a:spcAft>
            </a:pPr>
            <a:r>
              <a:rPr sz="2000" b="0">
                <a:solidFill>
                  <a:srgbClr val="FFFFFF"/>
                </a:solidFill>
                <a:latin typeface="Arial"/>
              </a:rPr>
              <a:t>Cannabis and CBD growers first.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Team</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growtoo team.</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Bela Ikotić — Shipped journal, coach, and Devnet stack. Four Superteam milestones.</a:t>
            </a:r>
          </a:p>
          <a:p>
            <a:pPr>
              <a:spcAft>
                <a:spcPts val="1000"/>
              </a:spcAft>
            </a:pPr>
            <a:r>
              <a:rPr sz="2000" b="0">
                <a:solidFill>
                  <a:srgbClr val="FFFFFF"/>
                </a:solidFill>
                <a:latin typeface="Arial"/>
              </a:rPr>
              <a:t>Ivan Grgić — Runs grower ops so the desk gets used, not only built.</a:t>
            </a:r>
          </a:p>
          <a:p>
            <a:pPr>
              <a:spcAft>
                <a:spcPts val="1000"/>
              </a:spcAft>
            </a:pPr>
            <a:r>
              <a:rPr sz="2000" b="0">
                <a:solidFill>
                  <a:srgbClr val="FFFFFF"/>
                </a:solidFill>
                <a:latin typeface="Arial"/>
              </a:rPr>
              <a:t>Ozren Zelić — Grows plants and engineers the trail that stores them.</a:t>
            </a:r>
          </a:p>
          <a:p>
            <a:pPr>
              <a:spcAft>
                <a:spcPts val="1000"/>
              </a:spcAft>
            </a:pPr>
            <a:r>
              <a:rPr sz="2000" b="0">
                <a:solidFill>
                  <a:srgbClr val="FFFFFF"/>
                </a:solidFill>
                <a:latin typeface="Arial"/>
              </a:rPr>
              <a:t>Goran Markovanović — Grows plants and designs how the desk looks.</a:t>
            </a:r>
          </a:p>
          <a:p>
            <a:pPr>
              <a:spcAft>
                <a:spcPts val="1000"/>
              </a:spcAft>
            </a:pPr>
            <a:r>
              <a:rPr sz="2000" b="0">
                <a:solidFill>
                  <a:srgbClr val="FFFFFF"/>
                </a:solidFill>
                <a:latin typeface="Arial"/>
              </a:rPr>
              <a:t>admin@dnevnik.live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8368" y="720000"/>
            <a:ext cx="10881360" cy="380000"/>
          </a:xfrm>
          <a:prstGeom prst="rect">
            <a:avLst/>
          </a:prstGeom>
          <a:noFill/>
        </p:spPr>
        <p:txBody>
          <a:bodyPr wrap="square">
            <a:spAutoFit/>
          </a:bodyPr>
          <a:lstStyle/>
          <a:p>
            <a:r>
              <a:rPr sz="1800" b="0">
                <a:solidFill>
                  <a:srgbClr val="B8B8B4"/>
                </a:solidFill>
                <a:latin typeface="Arial"/>
              </a:rPr>
              <a:t>Close</a:t>
            </a:r>
          </a:p>
        </p:txBody>
      </p:sp>
      <p:sp>
        <p:nvSpPr>
          <p:cNvPr id="3" name="TextBox 2"/>
          <p:cNvSpPr txBox="1"/>
          <p:nvPr/>
        </p:nvSpPr>
        <p:spPr>
          <a:xfrm>
            <a:off x="658368" y="1120000"/>
            <a:ext cx="10881360" cy="1100000"/>
          </a:xfrm>
          <a:prstGeom prst="rect">
            <a:avLst/>
          </a:prstGeom>
          <a:noFill/>
        </p:spPr>
        <p:txBody>
          <a:bodyPr wrap="square">
            <a:spAutoFit/>
          </a:bodyPr>
          <a:lstStyle/>
          <a:p>
            <a:r>
              <a:rPr sz="4000" b="1">
                <a:solidFill>
                  <a:srgbClr val="FFFFFF"/>
                </a:solidFill>
                <a:latin typeface="Arial"/>
              </a:rPr>
              <a:t>History first. Token second.</a:t>
            </a:r>
          </a:p>
        </p:txBody>
      </p:sp>
      <p:sp>
        <p:nvSpPr>
          <p:cNvPr id="4" name="TextBox 3"/>
          <p:cNvSpPr txBox="1"/>
          <p:nvPr/>
        </p:nvSpPr>
        <p:spPr>
          <a:xfrm>
            <a:off x="658368" y="2320000"/>
            <a:ext cx="10881360" cy="3200000"/>
          </a:xfrm>
          <a:prstGeom prst="rect">
            <a:avLst/>
          </a:prstGeom>
          <a:noFill/>
        </p:spPr>
        <p:txBody>
          <a:bodyPr wrap="square">
            <a:spAutoFit/>
          </a:bodyPr>
          <a:lstStyle/>
          <a:p>
            <a:pPr>
              <a:spcAft>
                <a:spcPts val="1000"/>
              </a:spcAft>
            </a:pPr>
            <a:r>
              <a:rPr sz="2000" b="0">
                <a:solidFill>
                  <a:srgbClr val="FFFFFF"/>
                </a:solidFill>
                <a:latin typeface="Arial"/>
              </a:rPr>
              <a:t>The journal is written before the day is sealed.</a:t>
            </a:r>
          </a:p>
          <a:p>
            <a:pPr>
              <a:spcAft>
                <a:spcPts val="1000"/>
              </a:spcAft>
            </a:pPr>
            <a:r>
              <a:rPr sz="2000" b="0">
                <a:solidFill>
                  <a:srgbClr val="FFFFFF"/>
                </a:solidFill>
                <a:latin typeface="Arial"/>
              </a:rPr>
              <a:t>Open the journal — growto.live/dnevnik</a:t>
            </a:r>
          </a:p>
          <a:p>
            <a:pPr>
              <a:spcAft>
                <a:spcPts val="1000"/>
              </a:spcAft>
            </a:pPr>
            <a:r>
              <a:rPr sz="2000" b="0">
                <a:solidFill>
                  <a:srgbClr val="FFFFFF"/>
                </a:solidFill>
                <a:latin typeface="Arial"/>
              </a:rPr>
              <a:t>growto.live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